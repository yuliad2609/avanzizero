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B088"/>
                </a:solidFill>
                <a:latin typeface="Arial"/>
              </a:defRPr>
            </a:pPr>
            <a:r>
              <a:t>AvanziZero</a:t>
            </a:r>
          </a:p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Sistema Integrato per la Gestione Collaborativa e l'Abbattimento dello Spreco Alimentare</a:t>
            </a:r>
            <a:br/>
            <a:r>
              <a:t>Architettura Edge AI 100% Offline e Ultraleggera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5A9E87"/>
                </a:solidFill>
              </a:defRPr>
            </a:pPr>
            <a:r>
              <a:t>Pitch Deck &amp; Business Model | AvanziZero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Il Problema  |  </a:t>
            </a:r>
            <a:r>
              <a:rPr sz="2200" b="0">
                <a:solidFill>
                  <a:srgbClr val="FFB088"/>
                </a:solidFill>
              </a:rPr>
              <a:t>Dinamiche del Mondo Moderno e Spreco Silente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Impatto delle Famiglie:</a:t>
            </a:r>
            <a:r>
              <a:rPr b="0">
                <a:solidFill>
                  <a:srgbClr val="1C3D32"/>
                </a:solidFill>
              </a:rPr>
              <a:t> I nuclei familiari producono il 53% del volume totale dei rifiuti alimentari globali. In Italia, lo spreco domestico settimanale ammonta a 554g a famiglia (circa 79,14g a persona).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Gestione delle Scadenze:</a:t>
            </a:r>
            <a:r>
              <a:rPr b="0">
                <a:solidFill>
                  <a:srgbClr val="1C3D32"/>
                </a:solidFill>
              </a:rPr>
              <a:t> Il 10-20% dello spreco complessivo e' direttamente collegato all'errata o mancata interpretazione delle date di scadenza. Solo il 35% delle famiglie controlla il frigo prima di effettuare nuovi acquisti.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Il Ruolo della Generazione Z e Fuorisede:</a:t>
            </a:r>
            <a:r>
              <a:rPr b="0">
                <a:solidFill>
                  <a:srgbClr val="1C3D32"/>
                </a:solidFill>
              </a:rPr>
              <a:t> La popolazione giovanile (14-30 anni) mostra una marcata inefficienza gestionale, dovuta a stili di vita transitori, uso intensivo di food delivery e netta disgiunzione dalla cura della dispensa.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Dispersione Economica e Temporale:</a:t>
            </a:r>
            <a:r>
              <a:rPr b="0">
                <a:solidFill>
                  <a:srgbClr val="1C3D32"/>
                </a:solidFill>
              </a:rPr>
              <a:t> Il 22% del budget alimentare viene vanificato per inefficienze logistiche e di conservazione. Circa il 50% delle persone ammette di dimenticare il cibo acquistato nel frigo fino al deperimento.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I Limiti delle Soluzioni Attuali  |  </a:t>
            </a:r>
            <a:r>
              <a:rPr sz="2200" b="0">
                <a:solidFill>
                  <a:srgbClr val="FFB088"/>
                </a:solidFill>
              </a:rPr>
              <a:t>Perche' i metodi tradizionali falliscono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WhatsApp (Messaggistica Istantanea):</a:t>
            </a:r>
            <a:r>
              <a:rPr b="0">
                <a:solidFill>
                  <a:srgbClr val="1C3D32"/>
                </a:solidFill>
              </a:rPr>
              <a:t> Impiegato come lista condivisa improvvisata. I messaggi si perdono nel flusso costante delle conversazioni. Nessuna struttura, nessun inventario, nessuna predizione.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Note Generiche (Appunti del Telefono):</a:t>
            </a:r>
            <a:r>
              <a:rPr b="0">
                <a:solidFill>
                  <a:srgbClr val="1C3D32"/>
                </a:solidFill>
              </a:rPr>
              <a:t> Liste digitali di puro testo, non collaborative, completamente prive di logica di categorizzazione o di sistemi di allerta per le scadenze.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Carta e Penna / Lavagna:</a:t>
            </a:r>
            <a:r>
              <a:rPr b="0">
                <a:solidFill>
                  <a:srgbClr val="1C3D32"/>
                </a:solidFill>
              </a:rPr>
              <a:t> Offrono controllo visivo in cucina ma zero condivisione digitale, rendendo l'inventario inaccessibile da remoto quando ci si trova fisicamente tra le corsie del supermercato.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Memoria Individuale:</a:t>
            </a:r>
            <a:r>
              <a:rPr b="0">
                <a:solidFill>
                  <a:srgbClr val="1C3D32"/>
                </a:solidFill>
              </a:rPr>
              <a:t> Il metodo piu' diffuso ma il meno affidabile in assoluto. Costituisce la causa primaria di acquisti doppi ('Pensavo l'avessi preso tu!'), dimenticanze e deperimento silente delle scorte.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La Soluzione  |  </a:t>
            </a:r>
            <a:r>
              <a:rPr sz="2200" b="0">
                <a:solidFill>
                  <a:srgbClr val="FFB088"/>
                </a:solidFill>
              </a:rPr>
              <a:t>AvanziZero: Ecosistema unificato per la convivenza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Piattaforma Unificata ed Etica:</a:t>
            </a:r>
            <a:r>
              <a:rPr b="0">
                <a:solidFill>
                  <a:srgbClr val="1C3D32"/>
                </a:solidFill>
              </a:rPr>
              <a:t> Un'unica applicazione dal design premium moderno ed estremamente fluido (menu dinamici, animazioni veloci e notifiche native) che centralizza l'intera gestione domestica.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Dispensa Smart &amp; Condivisa:</a:t>
            </a:r>
            <a:r>
              <a:rPr b="0">
                <a:solidFill>
                  <a:srgbClr val="1C3D32"/>
                </a:solidFill>
              </a:rPr>
              <a:t> Ogni prodotto possiede un indicatore visivo dinamico di freschezza. Qualsiasi variazione o consumo viene sincronizzato in tempo reale per tutti i membri della casa.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Intelligenza Artificiale On-Device:</a:t>
            </a:r>
            <a:r>
              <a:rPr b="0">
                <a:solidFill>
                  <a:srgbClr val="1C3D32"/>
                </a:solidFill>
              </a:rPr>
              <a:t> Acquisizione scontrini automatica e motore predittivo comportamentale che impara le abitudini di spesa del gruppo senza gravare su server esterni.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Ricettario AvanziZero:</a:t>
            </a:r>
            <a:r>
              <a:rPr b="0">
                <a:solidFill>
                  <a:srgbClr val="1C3D32"/>
                </a:solidFill>
              </a:rPr>
              <a:t> Motore integrato in grado di ordinare e consigliare preparazioni culinarie mirate a consumare esattamente cio' che e' in scadenza critica nel frigorifero.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Architettura 100% Offline &amp; Ultraleggera  |  </a:t>
            </a:r>
            <a:r>
              <a:rPr sz="2200" b="0">
                <a:solidFill>
                  <a:srgbClr val="FFB088"/>
                </a:solidFill>
              </a:rPr>
              <a:t>Progettata per operare ovunque, senza vincoli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Funzionamento Impeccabile Offline:</a:t>
            </a:r>
            <a:r>
              <a:rPr b="0">
                <a:solidFill>
                  <a:srgbClr val="1C3D32"/>
                </a:solidFill>
              </a:rPr>
              <a:t> All'interno dei supermercati la copertura di rete e' spesso critica o assente. AvanziZero opera alla massima velocita' appoggiandosi sul catalogo relazionale SQLite locale.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Sincronizzazione Trasparente in Background:</a:t>
            </a:r>
            <a:r>
              <a:rPr b="0">
                <a:solidFill>
                  <a:srgbClr val="1C3D32"/>
                </a:solidFill>
              </a:rPr>
              <a:t> Non appena il dispositivo ripristina la connettivita' cloud, l'applicazione esegue la sincronizzazione silente e automatica con i coinquilini senza interrompere l'attivita' dell'utente.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Ottimizzazione Estrema e Ultraleggera:</a:t>
            </a:r>
            <a:r>
              <a:rPr b="0">
                <a:solidFill>
                  <a:srgbClr val="1C3D32"/>
                </a:solidFill>
              </a:rPr>
              <a:t> Sviluppata in Flutter con un binario estremamente compatto, privo di bloatware o librerie superflue, garantendo un avvio istantaneo e una fluidita' di navigazione costante a 60 FPS.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Resilienza Strutturale:</a:t>
            </a:r>
            <a:r>
              <a:rPr b="0">
                <a:solidFill>
                  <a:srgbClr val="1C3D32"/>
                </a:solidFill>
              </a:rPr>
              <a:t> Zero interruzioni operative o messaggi di errore bloccanti: l'utente ha il controllo costante della dispensa e della spesa in qualsiasi condizione di connettivita'.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AI On-Device (Edge Computing)  |  </a:t>
            </a:r>
            <a:r>
              <a:rPr sz="2200" b="0">
                <a:solidFill>
                  <a:srgbClr val="FFB088"/>
                </a:solidFill>
              </a:rPr>
              <a:t>Zero latenza, 100% Token-Less, Massima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Elaborazione Neurale sul Dispositivo:</a:t>
            </a:r>
            <a:r>
              <a:rPr b="0">
                <a:solidFill>
                  <a:srgbClr val="1C3D32"/>
                </a:solidFill>
              </a:rPr>
              <a:t> A-differenza delle app basate su IA cloud costose (con API keys a pagamento), la nostra pipeline neurale viene eseguita interamente sul processore dello smartphone.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100% Token-Less (Zero Costi Esterni):</a:t>
            </a:r>
            <a:r>
              <a:rPr b="0">
                <a:solidFill>
                  <a:srgbClr val="1C3D32"/>
                </a:solidFill>
              </a:rPr>
              <a:t> L'eliminazione di chiamate ad API di terze parti azzera i costi infrastrutturali di elaborazione, consentendo una scalabilita' illimitata senza oneri variabili aggiuntivi.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Acquisizione Magica Scontrini:</a:t>
            </a:r>
            <a:r>
              <a:rPr b="0">
                <a:solidFill>
                  <a:srgbClr val="1C3D32"/>
                </a:solidFill>
              </a:rPr>
              <a:t> Google ML Kit OCR cattura il testo sgranato, un modello DistilBERT (TFLite) interpreta la semantica, e l'algoritmo di Fuzzy Matching converte stringhe come 'MLK PARZ SCR 1L' in 'Latte Parzialmente Scremato'.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Privacy e Riservatezza Totale:</a:t>
            </a:r>
            <a:r>
              <a:rPr b="0">
                <a:solidFill>
                  <a:srgbClr val="1C3D32"/>
                </a:solidFill>
              </a:rPr>
              <a:t> I dati di spesa, gli scontrini e le abitudini alimentari non transitano su server remoti commerciali ne' vengono mai ceduti a inserzionisti terzi.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Smart Pantry AI  |  </a:t>
            </a:r>
            <a:r>
              <a:rPr sz="2200" b="0">
                <a:solidFill>
                  <a:srgbClr val="FFB088"/>
                </a:solidFill>
              </a:rPr>
              <a:t>Il motore predittivo che impara le tue abitudini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Analisi dei Pattern di Consumo:</a:t>
            </a:r>
            <a:r>
              <a:rPr b="0">
                <a:solidFill>
                  <a:srgbClr val="1C3D32"/>
                </a:solidFill>
              </a:rPr>
              <a:t> L'intelligenza artificiale monitora in background lo storico dei log della dispensa per apprendere lo stile di vita e le abitudini alimentari specifiche della casa.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Stima del Tasso di Esaurimento:</a:t>
            </a:r>
            <a:r>
              <a:rPr b="0">
                <a:solidFill>
                  <a:srgbClr val="1C3D32"/>
                </a:solidFill>
              </a:rPr>
              <a:t> Calcola la media dei giorni trascorsi tra gli acquisti. Se il gruppo consuma 4 litri di latte a settimana, l'app notera' l'esaurimento imminente e suggerira': 'Consigliato: Latte (Esaurimento imminente, acquistato ogni ~5 giorni)'.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Messaggistica 'Scadenza Imminente':</a:t>
            </a:r>
            <a:r>
              <a:rPr b="0">
                <a:solidFill>
                  <a:srgbClr val="1C3D32"/>
                </a:solidFill>
              </a:rPr>
              <a:t> Monitoraggio puntuale e preciso della freschezza. Al raggiungimento di quota zero giorni, viene generato l'allarme mirato: 'Scadenza imminente (Scade tra poche ore)'.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Feedback Loop Intelligente:</a:t>
            </a:r>
            <a:r>
              <a:rPr b="0">
                <a:solidFill>
                  <a:srgbClr val="1C3D32"/>
                </a:solidFill>
              </a:rPr>
              <a:t> Il sistema impara costantemente dalle interazioni: l'accettazione o il rifiuto dei suggerimenti aggiorna i livelli di confidenza per calibrare le future raccomandazioni.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Ricettario AvanziZero &amp; Web Scraping  |  </a:t>
            </a:r>
            <a:r>
              <a:rPr sz="2200" b="0">
                <a:solidFill>
                  <a:srgbClr val="FFB088"/>
                </a:solidFill>
              </a:rPr>
              <a:t>Valorizzazione ottimale degli avanzi in scadenza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Ranking di Sostenibilita' (Salviamo la Cena):</a:t>
            </a:r>
            <a:r>
              <a:rPr b="0">
                <a:solidFill>
                  <a:srgbClr val="1C3D32"/>
                </a:solidFill>
              </a:rPr>
              <a:t> L'algoritmo esamina la dispensa e posiziona in cima all'elenco delle ricette i piatti che sfruttano esattamente gli ingredienti vicini al deperimento.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Il 'Grandissimo Retrieve' dal Web:</a:t>
            </a:r>
            <a:r>
              <a:rPr b="0">
                <a:solidFill>
                  <a:srgbClr val="1C3D32"/>
                </a:solidFill>
              </a:rPr>
              <a:t> Scraping asincrono e strutturato in tempo reale dall'archivio di 'Fatto in casa da Benedetta', estraendo foto in alta definizione, tempi e passaggi di preparazione impeccabili.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Filtro Istantaneo 'Senza Forno':</a:t>
            </a:r>
            <a:r>
              <a:rPr b="0">
                <a:solidFill>
                  <a:srgbClr val="1C3D32"/>
                </a:solidFill>
              </a:rPr>
              <a:t> Ideale per monolocali o per la stagione estiva. Con un tocco, l'app filtra in tempo reale sia il database locale che il web scrapper, scartando qualsiasi ricetta richieda l'uso del forno.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Tolleranza Ingredienti &amp; Carrello Veloce:</a:t>
            </a:r>
            <a:r>
              <a:rPr b="0">
                <a:solidFill>
                  <a:srgbClr val="1C3D32"/>
                </a:solidFill>
              </a:rPr>
              <a:t> Mancano 2 o 3 ingredienti per un piatto desiderato? Un pulsante dedicato li inserisce istantaneamente nella lista della spesa collaborativa del gruppo.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Business Model Canvas  |  </a:t>
            </a:r>
            <a:r>
              <a:rPr sz="2200" b="0">
                <a:solidFill>
                  <a:srgbClr val="FFB088"/>
                </a:solidFill>
              </a:rPr>
              <a:t>Struttura di valore, canali e segmenti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Key Partners:</a:t>
            </a:r>
            <a:r>
              <a:rPr b="0">
                <a:solidFill>
                  <a:srgbClr val="1C3D32"/>
                </a:solidFill>
              </a:rPr>
              <a:t> GDO e Supermercati (per integrazione cataloghi e promozioni), App di Pagamento (per saldare divisioni spese), Associazioni Studentesche, Influencer fuorisede e Organizzazioni Anti-Spreco.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Key Activities &amp; Resources:</a:t>
            </a:r>
            <a:r>
              <a:rPr b="0">
                <a:solidFill>
                  <a:srgbClr val="1C3D32"/>
                </a:solidFill>
              </a:rPr>
              <a:t> Sviluppo modelli AI on-device, ingegnerizzazione e manutenzione app Flutter, infrastruttura NoSQL Firestore scalabile e brand identity solida.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Customer Segments:</a:t>
            </a:r>
            <a:r>
              <a:rPr b="0">
                <a:solidFill>
                  <a:srgbClr val="1C3D32"/>
                </a:solidFill>
              </a:rPr>
              <a:t> Coinquilini in appartamenti condivisi (che necessitano di coordinarsi per la spesa e la ripartizione dei costi) e persone singole/lavoratori interessati al controllo delle scorte.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Canali di Distribuzione:</a:t>
            </a:r>
            <a:r>
              <a:rPr b="0">
                <a:solidFill>
                  <a:srgbClr val="1C3D32"/>
                </a:solidFill>
              </a:rPr>
              <a:t> App Store / Play Store, campagne social virali (TikTok / Instagram) mirate alla Generazione Z, e diffusione fisica (bacheche universitarie, GDO, mense).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Strategia di Monetizzazione  |  </a:t>
            </a:r>
            <a:r>
              <a:rPr sz="2200" b="0">
                <a:solidFill>
                  <a:srgbClr val="FFB088"/>
                </a:solidFill>
              </a:rPr>
              <a:t>Stime quantitative, tariffe e flussi di ricavo (Revenue Streams)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Modello Freemium Base (Acquisizione Utenti):</a:t>
            </a:r>
            <a:r>
              <a:rPr b="0">
                <a:solidFill>
                  <a:srgbClr val="1C3D32"/>
                </a:solidFill>
              </a:rPr>
              <a:t> Accesso gratuito alle funzionalita' di gestione dispensa e lista locale per utente singolo, per favorire la massima diffusione e abbattere le barriere d'ingresso.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Sincronizzazione Premium (Condivisione Coinquilini):</a:t>
            </a:r>
            <a:r>
              <a:rPr b="0">
                <a:solidFill>
                  <a:srgbClr val="1C3D32"/>
                </a:solidFill>
              </a:rPr>
              <a:t> Tariffa di € 2,99 / mese (o € 24,99 / anno) per intero appartamento. Ripartita tra 3-4 coinquilini equivale a meno di € 0,80 a persona/mese, sbloccando connettivita' cloud istantanea illimitata e tracciamento spese.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AI Pro Pack (Previsioni e Scansione Avanzata):</a:t>
            </a:r>
            <a:r>
              <a:rPr b="0">
                <a:solidFill>
                  <a:srgbClr val="1C3D32"/>
                </a:solidFill>
              </a:rPr>
              <a:t> Tariffa addizionale di € 1,99 / mese per l'accesso a scansioni OCR illimitate di scontrini complessi, predizioni avanzate di spesa e reportistica di sostenibilita' estesa.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Stime Quantitative e Tasso di Conversione:</a:t>
            </a:r>
            <a:r>
              <a:rPr b="0">
                <a:solidFill>
                  <a:srgbClr val="1C3D32"/>
                </a:solidFill>
              </a:rPr>
              <a:t> Su una base di 50.000 utenti attivi, si stima un tasso di conversione di target del 7-10% verso piani a pagamento (circa 4.000 appartamenti Premium), generating un ARR iniziale (Annual Recurring Revenue) stimato in oltre € 120.000.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Struttura dei Costi &amp; Profittabilita'  |  </a:t>
            </a:r>
            <a:r>
              <a:rPr sz="2200" b="0">
                <a:solidFill>
                  <a:srgbClr val="FFB088"/>
                </a:solidFill>
              </a:rPr>
              <a:t>Vantaggio di costo garantito dall'Edge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Costi Variabili IA Quasi Nulli (Edge AI Advantage):</a:t>
            </a:r>
            <a:r>
              <a:rPr b="0">
                <a:solidFill>
                  <a:srgbClr val="1C3D32"/>
                </a:solidFill>
              </a:rPr>
              <a:t> L'elaborazione on-device di DistilBERT e OCR elimina i costi di transito in cloud per le inferenze IA. Il margine lordo (Gross Margin) sui servizi Premium e' stimato all'85-90%.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Hosting e Server Scalabile:</a:t>
            </a:r>
            <a:r>
              <a:rPr b="0">
                <a:solidFill>
                  <a:srgbClr val="1C3D32"/>
                </a:solidFill>
              </a:rPr>
              <a:t> L'infrastruttura basata su Firestore NoSQL assicura che i costi di hosting crescano solo in modo strettamente proporzionale all'aumento reale degli utenti attivi sincronizzati.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Costi Fissi Contenuti:</a:t>
            </a:r>
            <a:r>
              <a:rPr b="0">
                <a:solidFill>
                  <a:srgbClr val="1C3D32"/>
                </a:solidFill>
              </a:rPr>
              <a:t> Lo sviluppo unificato in Flutter permette la gestione contemporanea di iOS e Android con un unico team ingegneristico, ottimizzando i costi di manutenzione e rilascio.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CAC (Customer Acquisition Cost) Abbattuto:</a:t>
            </a:r>
            <a:r>
              <a:rPr b="0">
                <a:solidFill>
                  <a:srgbClr val="1C3D32"/>
                </a:solidFill>
              </a:rPr>
              <a:t> La natura collaborativa dell'app genera viralita' organica (un utente invita i propri coinquilini), riducendo drasticamente la necessita' di budget pubblicitari onerosi.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5A9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2191695" cy="73152"/>
          </a:xfrm>
          <a:prstGeom prst="rect">
            <a:avLst/>
          </a:prstGeom>
          <a:solidFill>
            <a:srgbClr val="FFB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Vision &amp; Impatto Futuro  |  </a:t>
            </a:r>
            <a:r>
              <a:rPr sz="2200" b="0">
                <a:solidFill>
                  <a:srgbClr val="FFB088"/>
                </a:solidFill>
              </a:rPr>
              <a:t>Sostenibilita' ed efficienza per la societa'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789088"/>
                </a:solidFill>
              </a:defRPr>
            </a:pPr>
            <a:r>
              <a:t>AvanziZero  |  Sistema Integrato per l'Abbattimento dello Spreco Alimentare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10728655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9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036289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Abbattimento Radicale dello Spreco:</a:t>
            </a:r>
            <a:r>
              <a:rPr b="0">
                <a:solidFill>
                  <a:srgbClr val="1C3D32"/>
                </a:solidFill>
              </a:rPr>
              <a:t> La conversione sistematica delle eccedenze alimentari in ricette mirate azzera la produzione di rifiuto organico domestico, contribuendo attivamente ai target ecologici globali.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Risparmio Economico Diretto per l'Utente:</a:t>
            </a:r>
            <a:r>
              <a:rPr b="0">
                <a:solidFill>
                  <a:srgbClr val="1C3D32"/>
                </a:solidFill>
              </a:rPr>
              <a:t> Il contenimento degli acquisti ridondanti e l'eliminazione del cibo gettato generano un risparmio effettivo stimato tra € 150 e € 350 annui per utente fuorisede/lavoratore.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Integrazione Territoriale (Radar Supermercati):</a:t>
            </a:r>
            <a:r>
              <a:rPr b="0">
                <a:solidFill>
                  <a:srgbClr val="1C3D32"/>
                </a:solidFill>
              </a:rPr>
              <a:t> Sinergia diretta con le attivita' commerciali locali tramite geolocalizzazione integrata per favorire un ciclo d'acquisto rapido e a chilometro ottimizzato.</a:t>
            </a:r>
          </a:p>
          <a:p>
            <a:pPr>
              <a:spcAft>
                <a:spcPts val="800"/>
              </a:spcAft>
              <a:defRPr b="1" sz="2000">
                <a:solidFill>
                  <a:srgbClr val="1C3D32"/>
                </a:solidFill>
                <a:latin typeface="Arial"/>
              </a:defRPr>
            </a:pPr>
            <a:r>
              <a:t>•  AvanziZero:</a:t>
            </a:r>
            <a:r>
              <a:rPr b="0">
                <a:solidFill>
                  <a:srgbClr val="1C3D32"/>
                </a:solidFill>
              </a:rPr>
              <a:t> L'innovazione tecnologica piu' sofisticata messa al servizio della semplicita' e della sostenibilita' quotidiana.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